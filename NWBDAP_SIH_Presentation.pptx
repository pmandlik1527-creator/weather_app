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1:</a:t>
            </a:r>
          </a:p>
          <a:p>
            <a:r>
              <a:t>- Welcome the jury and introduce Problem Statement 26069 by MoES/IMD.</a:t>
            </a:r>
          </a:p>
          <a:p>
            <a:r>
              <a:t>- Emphasize the core challenge: Calibrated radar and satellites provide broad regional forecasts, but hyper-local micro-events like road flooding, falling trees, or cloudbursts happen in minutes.</a:t>
            </a:r>
          </a:p>
          <a:p>
            <a:r>
              <a:t>- The public reports them instantly on social media, but IMD cannot rely on unverified social feeds due to sensationalism, hoaxes, and noise.</a:t>
            </a:r>
          </a:p>
          <a:p>
            <a:r>
              <a:t>- Our platform solves this exact gap with automated AI verification and big data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2:</a:t>
            </a:r>
          </a:p>
          <a:p>
            <a:r>
              <a:t>- Highlight that Python is the core language powering both the backend (Flask) and the ML engine (Scikit-Learn, NumPy).</a:t>
            </a:r>
          </a:p>
          <a:p>
            <a:r>
              <a:t>- Point out the dual-mode database: SQLite with WAL (Write-Ahead Logging) enables zero-latency local/offline deployment, while Supabase PostgreSQL enables cloud scale.</a:t>
            </a:r>
          </a:p>
          <a:p>
            <a:r>
              <a:t>- Mention that the frontend is pure modern JavaScript with Leaflet.js and Chart.js, ensuring zero heavy framework baggage and fast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3:</a:t>
            </a:r>
          </a:p>
          <a:p>
            <a:r>
              <a:t>- Explain the 3 intake channels: Social Media (high volume, rapid), Open-Meteo APIs (calibrated ground sensors), and Citizen Desk (geotagged with photos).</a:t>
            </a:r>
          </a:p>
          <a:p>
            <a:r>
              <a:t>- Emphasize how the citizen form automatically pulls device GPS coordinates, preventing location ambiguity.</a:t>
            </a:r>
          </a:p>
          <a:p>
            <a:r>
              <a:t>- Explain the Stream Manager: Using a thread-safe priority queue prevents database lockups and decouples data arrival from UI consumption.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4:</a:t>
            </a:r>
          </a:p>
          <a:p>
            <a:r>
              <a:t>- Walk through the 6-stage AI pipeline systematically.</a:t>
            </a:r>
          </a:p>
          <a:p>
            <a:r>
              <a:t>- Highlight the Climatic Plausibility Matrix in Step 4: If someone tweets 'Heavy snowfall at Marine Drive Mumbai', the engine applies a -65% penalty immediately because snowfall is climatically impossible there.</a:t>
            </a:r>
          </a:p>
          <a:p>
            <a:r>
              <a:t>- Point out Step 5 Deduplication: During a thunderstorm, 500 tweets about the same road flooding are merged into 1 incident cluster, preventing analyst cognitive overload.</a:t>
            </a:r>
          </a:p>
          <a:p>
            <a:r>
              <a:t>- Emphasize Step 6: The system learns from meteorologist overrides.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5:</a:t>
            </a:r>
          </a:p>
          <a:p>
            <a:r>
              <a:t>- Explain the 4 dedicated web interfaces implemented in the application.</a:t>
            </a:r>
          </a:p>
          <a:p>
            <a:r>
              <a:t>- Radar: Used by IMD duty officers to monitor live hazard maps and heatmaps.</a:t>
            </a:r>
          </a:p>
          <a:p>
            <a:r>
              <a:t>- Citizen Desk: Accessible by anyone on their phone with automatic GPS fetching.</a:t>
            </a:r>
          </a:p>
          <a:p>
            <a:r>
              <a:t>- Admin Console: Provides human-in-the-loop governance so AI never makes unchecked decisions.</a:t>
            </a:r>
          </a:p>
          <a:p>
            <a:r>
              <a:t>- Analytics: Empowers climate scientists and researchers with exportable, cleaned big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6:</a:t>
            </a:r>
          </a:p>
          <a:p>
            <a:r>
              <a:t>- Conclude strongly with the strategic value for India's disaster management ecosystem.</a:t>
            </a:r>
          </a:p>
          <a:p>
            <a:r>
              <a:t>- Summarize the 3 key ROI metrics: 15-45 min faster alerts, 90%+ noise elimination, and zero software licensing cost.</a:t>
            </a:r>
          </a:p>
          <a:p>
            <a:r>
              <a:t>- State that this solution directly solves SIH Problem Statement 26069 by turning chaotic public crowd data into a dependable national meteorological asset.</a:t>
            </a:r>
          </a:p>
          <a:p>
            <a:r>
              <a:t>- Open the floor for questions from the evaluation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40080"/>
            <a:ext cx="530352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347"/>
                </a:solidFill>
              </a:defRPr>
            </a:pPr>
            <a:r>
              <a:t>MINISTRY OF EARTH SCIENCES (MoES) | IMD | SIH 26069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National Weather Big Data Analytics Platform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AI-Driven Hyper-Local Weather Intelligence, Multi-Channel Ingestion &amp; Misinformation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3328416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The Challenge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Macro weather radars &amp; satellites miss hyper-local, sudden crises (urban subway waterlogging, localized hailstorms, flash cloudbursts). Meanwhile, social media has early signals but is riddled with panic, fake news, and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7136" y="3017520"/>
            <a:ext cx="3328416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The Solution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An end-to-end Big Data &amp; AI pipeline that ingests social streams, sensor APIs, and geotagged citizen reports, filtering misinformation and clustering duplicate chatter into verified incident ground-truth.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3017520"/>
            <a:ext cx="3328416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The Value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Delivers 15-45 minutes faster situational awareness to IMD meteorologists and NDRF disaster response teams, converting raw chaos into actionable geospatial operational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MINISTRY OF EARTH SCIENCES (MOES) | INDIA METEOROLOGICAL DEPARTMENT (IMD)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Technology Stack &amp; Core Programming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SIH Problem Statement ID: 26069 | National Weather Big Data Analytics Platform (NWBDAP)                  Slide 2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5100"/>
                </a:solidFill>
              </a:defRPr>
            </a:pPr>
            <a:r>
              <a:t>Programming Languages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Python 3.10+ (Primary Language): </a:t>
            </a:r>
            <a:r>
              <a:rPr b="0" sz="1000">
                <a:solidFill>
                  <a:srgbClr val="475569"/>
                </a:solidFill>
              </a:rPr>
              <a:t>Powers backend REST server, asynchronous queue, machine learning models, and NLP analytics.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JavaScript (ES6+): </a:t>
            </a:r>
            <a:r>
              <a:rPr b="0" sz="1000">
                <a:solidFill>
                  <a:srgbClr val="475569"/>
                </a:solidFill>
              </a:rPr>
              <a:t>Handles client-side interactivity, live telemetry polling, Leaflet GIS mapping, and Chart.js dynamic rendering.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HTML5 &amp; CSS3: </a:t>
            </a:r>
            <a:r>
              <a:rPr b="0" sz="1000">
                <a:solidFill>
                  <a:srgbClr val="475569"/>
                </a:solidFill>
              </a:rPr>
              <a:t>Modern responsive UI, custom Tiranga theme, dark/light styling, and HTML5 Geolocation API.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SQL: </a:t>
            </a:r>
            <a:r>
              <a:rPr b="0" sz="1000">
                <a:solidFill>
                  <a:srgbClr val="475569"/>
                </a:solidFill>
              </a:rPr>
              <a:t>Relational data structures, spatial indexes, audit logging, and incident clustering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Backend &amp; Ingestion Layer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Flask 3.0+ Framework: </a:t>
            </a:r>
            <a:r>
              <a:rPr b="0" sz="1000">
                <a:solidFill>
                  <a:srgbClr val="475569"/>
                </a:solidFill>
              </a:rPr>
              <a:t>Lightweight, high-performance WSGI microframework delivering modular REST APIs.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Threaded Priority Queue: </a:t>
            </a:r>
            <a:r>
              <a:rPr b="0" sz="1000">
                <a:solidFill>
                  <a:srgbClr val="475569"/>
                </a:solidFill>
              </a:rPr>
              <a:t>Thread-safe asynchronous producer-consumer queue for non-blocking stream ingestion.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Multi-Source Connectors: </a:t>
            </a:r>
            <a:r>
              <a:rPr b="0" sz="1000">
                <a:solidFill>
                  <a:srgbClr val="475569"/>
                </a:solidFill>
              </a:rPr>
              <a:t>Social crawler simulator, Open-Meteo sensor API integration, and multipart citizen intake with Pillow image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AI, ML &amp; NLP Pipeline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Scikit-Learn &amp; NumPy: </a:t>
            </a:r>
            <a:r>
              <a:rPr b="0" sz="1000">
                <a:solidFill>
                  <a:srgbClr val="475569"/>
                </a:solidFill>
              </a:rPr>
              <a:t>TF-IDF n-gram vectorization and Multinomial NLP classification for weather categorizing.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Domain-Tuned Lexicon: </a:t>
            </a:r>
            <a:r>
              <a:rPr b="0" sz="1000">
                <a:solidFill>
                  <a:srgbClr val="475569"/>
                </a:solidFill>
              </a:rPr>
              <a:t>Indian meteorological dictionary (English + Hinglish terms like badal phat gaya, loo, kohra).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Haversine Spatio-Temporal Math: </a:t>
            </a:r>
            <a:r>
              <a:rPr b="0" sz="1000">
                <a:solidFill>
                  <a:srgbClr val="475569"/>
                </a:solidFill>
              </a:rPr>
              <a:t>Calculates geographic proximity and clustering within 15 km &amp; 2-hour windows.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8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Database &amp; Cloud Storage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Dual-Mode Storage Engine: </a:t>
            </a:r>
            <a:r>
              <a:rPr b="0" sz="1000">
                <a:solidFill>
                  <a:srgbClr val="475569"/>
                </a:solidFill>
              </a:rPr>
              <a:t>Resilient architecture switching seamlessly between local SQLite and cloud PostgreSQL.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SQLite 3 (WAL Mode): </a:t>
            </a:r>
            <a:r>
              <a:rPr b="0" sz="1000">
                <a:solidFill>
                  <a:srgbClr val="475569"/>
                </a:solidFill>
              </a:rPr>
              <a:t>Write-Ahead Logging enabled for high-concurrency read/write without locking during field/offline use.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172A"/>
                </a:solidFill>
              </a:rPr>
              <a:t>• Supabase (PostgreSQL): </a:t>
            </a:r>
            <a:r>
              <a:rPr b="0" sz="1000">
                <a:solidFill>
                  <a:srgbClr val="475569"/>
                </a:solidFill>
              </a:rPr>
              <a:t>Cloud enterprise database for distributed regional centers with automated SQL migration.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MINISTRY OF EARTH SCIENCES (MOES) | INDIA METEOROLOGICAL DEPARTMENT (IMD)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 Ingestion Pipeline — How the System Takes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SIH Problem Statement ID: 26069 | National Weather Big Data Analytics Platform (NWBDAP)                  Slide 3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328416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5100"/>
                </a:solidFill>
              </a:defRPr>
            </a:pPr>
            <a:r>
              <a:t>1. Social Media Live Stream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Targeted Hashtag Monitoring: </a:t>
            </a:r>
            <a:r>
              <a:rPr b="0" sz="1000">
                <a:solidFill>
                  <a:srgbClr val="475569"/>
                </a:solidFill>
              </a:rPr>
              <a:t>Tracks active weather tags (#IMD, #MumbaiRains, #DelhiWeather, #Monsoon, #CycloneAlert).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Metadata Extraction: </a:t>
            </a:r>
            <a:r>
              <a:rPr b="0" sz="1000">
                <a:solidFill>
                  <a:srgbClr val="475569"/>
                </a:solidFill>
              </a:rPr>
              <a:t>Captures author handle, timestamp, user tier, raw textual message, and extracted city/location entity.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High Velocity Intake: </a:t>
            </a:r>
            <a:r>
              <a:rPr b="0" sz="1000">
                <a:solidFill>
                  <a:srgbClr val="475569"/>
                </a:solidFill>
              </a:rPr>
              <a:t>Handles hundreds of public posts per minute during breaking storm events without crashing.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280160"/>
            <a:ext cx="3328416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6304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2. Open-Meteo Sensor API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Calibrated Ground Reality: </a:t>
            </a:r>
            <a:r>
              <a:rPr b="0" sz="1000">
                <a:solidFill>
                  <a:srgbClr val="475569"/>
                </a:solidFill>
              </a:rPr>
              <a:t>Polls live meteorological data from Open-Meteo automated weather stations across Indian cities.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Multi-Parameter Telemetry: </a:t>
            </a:r>
            <a:r>
              <a:rPr b="0" sz="1000">
                <a:solidFill>
                  <a:srgbClr val="475569"/>
                </a:solidFill>
              </a:rPr>
              <a:t>Syncs temperature (°C), precipitation (mm), relative humidity (%), and wind speed (km/h).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Ground-Truth Baseline: </a:t>
            </a:r>
            <a:r>
              <a:rPr b="0" sz="1000">
                <a:solidFill>
                  <a:srgbClr val="475569"/>
                </a:solidFill>
              </a:rPr>
              <a:t>Serves as a reliable reference standard to cross-validate citizen and social media claims.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280160"/>
            <a:ext cx="3328416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46304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3. Citizen Weather Desk (/report)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One-Tap GPS Geocoding: </a:t>
            </a:r>
            <a:r>
              <a:rPr b="0" sz="1000">
                <a:solidFill>
                  <a:srgbClr val="475569"/>
                </a:solidFill>
              </a:rPr>
              <a:t>HTML5 Geolocation automatically captures exact latitude, longitude, and device accuracy.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10 Standard Categories: </a:t>
            </a:r>
            <a:r>
              <a:rPr b="0" sz="1000">
                <a:solidFill>
                  <a:srgbClr val="475569"/>
                </a:solidFill>
              </a:rPr>
              <a:t>Visual selection cards (Rainfall, Hailstorm, Fog, Dust Storm, Waterlogging, Heatwave, etc.).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Photo Evidence &amp; Severity: </a:t>
            </a:r>
            <a:r>
              <a:rPr b="0" sz="1000">
                <a:solidFill>
                  <a:srgbClr val="475569"/>
                </a:solidFill>
              </a:rPr>
              <a:t>Validates uploaded imagery via Pillow and records a 5-level citizen severity index with UUID receipts.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83480"/>
            <a:ext cx="10698480" cy="12344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⚡ Thread-Safe Asynchronous Priority Event Queue (Stream Manager)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All multi-channel streams feed into a unified in-memory FIFO priority queue managed by background worker threads. Reports from verified authorities and high-severity citizen alerts receive expedited priority routing, ensuring zero ingestion lag and continuous 24x7 operational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MINISTRY OF EARTH SCIENCES (MOES) | INDIA METEOROLOGICAL DEPARTMENT (IMD)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Workflow &amp; AI/ML Processing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SIH Problem Statement ID: 26069 | National Weather Big Data Analytics Platform (NWBDAP)                  Slide 4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08760"/>
            <a:ext cx="29992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65100"/>
                </a:solidFill>
              </a:defRPr>
            </a:pPr>
            <a:r>
              <a:t>Step 1: Ingestion &amp; Normalization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Incoming raw reports are stripped of HTML/special characters, normalized, and stamped with spatial coordinates (GPS or city bounding box).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371600"/>
            <a:ext cx="3328416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9992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</a:defRPr>
            </a:pPr>
            <a:r>
              <a:t>Step 2: Source Credibility Scoring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Calculates trust score across 6 tiers: Official IMD (98) -&gt; Verified Media (88) -&gt; Citizen Verified (80) -&gt; Public (60) -&gt; Anonymous (40) -&gt; Bot (10).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371600"/>
            <a:ext cx="3328416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508760"/>
            <a:ext cx="29992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59669"/>
                </a:solidFill>
              </a:defRPr>
            </a:pPr>
            <a:r>
              <a:t>Step 3: Hybrid NLP Auto-Categorization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TF-IDF vectorizer + Multinomial classifier maps text into 10 IMD categories (&gt;88% accuracy) using English &amp; Hinglish domain lexicons.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3328416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31920"/>
            <a:ext cx="29992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C2626"/>
                </a:solidFill>
              </a:defRPr>
            </a:pPr>
            <a:r>
              <a:t>Step 4: Multi-Signal Fake News Detection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Scores Authenticity (0-100%): Checks sensationalism panic words, regional climatic plausibility (e.g. snow in Mumbai), &amp; local corroboration.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3794760"/>
            <a:ext cx="3328416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931920"/>
            <a:ext cx="29992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</a:defRPr>
            </a:pPr>
            <a:r>
              <a:t>Step 5: Spatio-Temporal Deduplication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Haversine distance (&lt;=15 km) &amp; time window (&lt;=2 hrs) cluster redundant crowd posts into a single actionable Incident Cluster.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3794760"/>
            <a:ext cx="3328416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3931920"/>
            <a:ext cx="29992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7C3AED"/>
                </a:solidFill>
              </a:defRPr>
            </a:pPr>
            <a:r>
              <a:t>Step 6: Human-in-the-Loop Active Learning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IMD analysts can verify or override classifications. Feedback is logged in real-time, allowing 1-click model retraining without server restarts.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MINISTRY OF EARTH SCIENCES (MOES) | INDIA METEOROLOGICAL DEPARTMENT (IMD)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Implementation — Operational Modules &amp;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SIH Problem Statement ID: 26069 | National Weather Big Data Analytics Platform (NWBDAP)                  Slide 5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65100"/>
                </a:solidFill>
              </a:defRPr>
            </a:pPr>
            <a:r>
              <a:t>1. Operational Radar (Command Center)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Interactive GIS Map (Leaflet.js): </a:t>
            </a:r>
            <a:r>
              <a:rPr b="0" sz="950">
                <a:solidFill>
                  <a:srgbClr val="475569"/>
                </a:solidFill>
              </a:rPr>
              <a:t>Visualizes real-time incidents across India with category-coded markers and density heatmaps.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Multi-Dimensional Filtering: </a:t>
            </a:r>
            <a:r>
              <a:rPr b="0" sz="950">
                <a:solidFill>
                  <a:srgbClr val="475569"/>
                </a:solidFill>
              </a:rPr>
              <a:t>Instant drill-down by State, City, Severity (1-5), Verification Status, and Time Window.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Live Ingestion Ticker &amp; Telemetry: </a:t>
            </a:r>
            <a:r>
              <a:rPr b="0" sz="950">
                <a:solidFill>
                  <a:srgbClr val="475569"/>
                </a:solidFill>
              </a:rPr>
              <a:t>Real-time feed showing incoming reports, authenticity badges, and auto-updating Chart.js distribution graphs.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t>2. Citizen Weather Desk (/report)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Mobile-Responsive Crowdsourcing: </a:t>
            </a:r>
            <a:r>
              <a:rPr b="0" sz="950">
                <a:solidFill>
                  <a:srgbClr val="475569"/>
                </a:solidFill>
              </a:rPr>
              <a:t>Designed for field reporting by the general public, volunteers, and ground observers.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GPS &amp; Photographic Proof: </a:t>
            </a:r>
            <a:r>
              <a:rPr b="0" sz="950">
                <a:solidFill>
                  <a:srgbClr val="475569"/>
                </a:solidFill>
              </a:rPr>
              <a:t>HTML5 location capture + image preview; generates tamper-evident UUID receipt for tracking.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Low-Bandwidth Optimized: </a:t>
            </a:r>
            <a:r>
              <a:rPr b="0" sz="950">
                <a:solidFill>
                  <a:srgbClr val="475569"/>
                </a:solidFill>
              </a:rPr>
              <a:t>Lightweight form designed to work seamlessly even on 2G/3G mobile networks during disasters.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</a:defRPr>
            </a:pPr>
            <a:r>
              <a:t>3. Admin &amp; AI Moderation Console (/admin)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AI Review Queue: </a:t>
            </a:r>
            <a:r>
              <a:rPr b="0" sz="950">
                <a:solidFill>
                  <a:srgbClr val="475569"/>
                </a:solidFill>
              </a:rPr>
              <a:t>Highlights flagged misinformation with clear explanations of why the post was deemed suspicious.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1-Click Overrides &amp; Moderation: </a:t>
            </a:r>
            <a:r>
              <a:rPr b="0" sz="950">
                <a:solidFill>
                  <a:srgbClr val="475569"/>
                </a:solidFill>
              </a:rPr>
              <a:t>Allows meteorologists to approve, reject, or re-categorize reports instantly.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Model Retraining &amp; Connector Management: </a:t>
            </a:r>
            <a:r>
              <a:rPr b="0" sz="950">
                <a:solidFill>
                  <a:srgbClr val="475569"/>
                </a:solidFill>
              </a:rPr>
              <a:t>Trigger on-the-fly NLP model updates and toggle live data ingestion feeds.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8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293B"/>
                </a:solidFill>
              </a:defRPr>
            </a:pPr>
            <a:r>
              <a:t>4. Big Data Trends &amp; Export (/analytics)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Multi-Channel Analytics: </a:t>
            </a:r>
            <a:r>
              <a:rPr b="0" sz="950">
                <a:solidFill>
                  <a:srgbClr val="475569"/>
                </a:solidFill>
              </a:rPr>
              <a:t>Visual breakdown of report volumes (Social Media vs. Citizen Desk vs. Automated Sensors).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Vulnerability Hotspot Ranking: </a:t>
            </a:r>
            <a:r>
              <a:rPr b="0" sz="950">
                <a:solidFill>
                  <a:srgbClr val="475569"/>
                </a:solidFill>
              </a:rPr>
              <a:t>Identifies top hazard-prone cities and recurring incident clusters.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Automated Data Export: </a:t>
            </a:r>
            <a:r>
              <a:rPr b="0" sz="950">
                <a:solidFill>
                  <a:srgbClr val="475569"/>
                </a:solidFill>
              </a:rPr>
              <a:t>One-click export of cleaned meteorological datasets in CSV and JSON formats for research and archival.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MINISTRY OF EARTH SCIENCES (MOES) | INDIA METEOROLOGICAL DEPARTMENT (IMD)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Operational Impact, Usefulness &amp; Government Scalability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SIH Problem Statement ID: 26069 | National Weather Big Data Analytics Platform (NWBDAP)                  Slide 6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65100"/>
                </a:solidFill>
              </a:defRPr>
            </a:pPr>
            <a:r>
              <a:t>1. Hyper-Local Situational Awareness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Last-Mile Ground Truth: </a:t>
            </a:r>
            <a:r>
              <a:rPr b="0" sz="950">
                <a:solidFill>
                  <a:srgbClr val="475569"/>
                </a:solidFill>
              </a:rPr>
              <a:t>Bridges the operational gap between radar grid cells (1-5 km) and hyper-local street-level emergencies.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Rapid Early Warning: </a:t>
            </a:r>
            <a:r>
              <a:rPr b="0" sz="950">
                <a:solidFill>
                  <a:srgbClr val="475569"/>
                </a:solidFill>
              </a:rPr>
              <a:t>Detects localized flash floods, cloudbursts, and tree falls 15 to 45 minutes earlier than traditional reporting.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Disaster Ground-Zero Mapping: </a:t>
            </a:r>
            <a:r>
              <a:rPr b="0" sz="950">
                <a:solidFill>
                  <a:srgbClr val="475569"/>
                </a:solidFill>
              </a:rPr>
              <a:t>Pinpoints exact coordinates of waterlogged underpasses and impassable routes.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</a:defRPr>
            </a:pPr>
            <a:r>
              <a:t>2. Noise Suppression &amp; Misinformation Shield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90%+ Data Noise Reduction: </a:t>
            </a:r>
            <a:r>
              <a:rPr b="0" sz="950">
                <a:solidFill>
                  <a:srgbClr val="475569"/>
                </a:solidFill>
              </a:rPr>
              <a:t>Spatio-temporal clustering collapses thousands of duplicate tweets into single actionable incidents.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Fake News Neutralization: </a:t>
            </a:r>
            <a:r>
              <a:rPr b="0" sz="950">
                <a:solidFill>
                  <a:srgbClr val="475569"/>
                </a:solidFill>
              </a:rPr>
              <a:t>Automated climatic checks immediately discard viral hoaxes and apocalyptic rumors.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Trust-Weighted Intelligence: </a:t>
            </a:r>
            <a:r>
              <a:rPr b="0" sz="950">
                <a:solidFill>
                  <a:srgbClr val="475569"/>
                </a:solidFill>
              </a:rPr>
              <a:t>Gives emergency commanders high confidence in crowd-sourced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t>3. Inter-Agency Emergency Coordination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Multi-Department Actionability: </a:t>
            </a:r>
            <a:r>
              <a:rPr b="0" sz="950">
                <a:solidFill>
                  <a:srgbClr val="475569"/>
                </a:solidFill>
              </a:rPr>
              <a:t>Provides common operational picture for IMD, NDRF, SDRF, Police, and Municipal Corporations.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Resource Optimization: </a:t>
            </a:r>
            <a:r>
              <a:rPr b="0" sz="950">
                <a:solidFill>
                  <a:srgbClr val="475569"/>
                </a:solidFill>
              </a:rPr>
              <a:t>Enables emergency services to deploy de-watering pumps, rescue boats, and tree cutters to high-severity clusters.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Post-Event Forensic Auditing: </a:t>
            </a:r>
            <a:r>
              <a:rPr b="0" sz="950">
                <a:solidFill>
                  <a:srgbClr val="475569"/>
                </a:solidFill>
              </a:rPr>
              <a:t>Immutable database records serve as verified evidence for flood audits and relief distribution.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8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293B"/>
                </a:solidFill>
              </a:defRPr>
            </a:pPr>
            <a:r>
              <a:t>4. Scalability &amp; Deployment Readiness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Zero Proprietary Licensing: </a:t>
            </a:r>
            <a:r>
              <a:rPr b="0" sz="950">
                <a:solidFill>
                  <a:srgbClr val="475569"/>
                </a:solidFill>
              </a:rPr>
              <a:t>Built 100% on open-source technologies (Python, Flask, SQLite, Scikit-learn, Leaflet).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Cloud &amp; Edge Ready: </a:t>
            </a:r>
            <a:r>
              <a:rPr b="0" sz="950">
                <a:solidFill>
                  <a:srgbClr val="475569"/>
                </a:solidFill>
              </a:rPr>
              <a:t>Runs seamlessly on Government Cloud (NIC / MeghRaj) or on offline edge laptops during connectivity blackouts.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High Concurrency &amp; Low Latency: </a:t>
            </a:r>
            <a:r>
              <a:rPr b="0" sz="950">
                <a:solidFill>
                  <a:srgbClr val="475569"/>
                </a:solidFill>
              </a:rPr>
              <a:t>Sub-second search queries, lightweight memory footprint, and horizontal API scalability.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